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853E0E-C230-49AF-82D9-29BF083D52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EA1F66-1EA3-4946-A61A-861A8C6F32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829AFE-C768-4FFB-A7F3-C042BCDCD0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AAA3C59-B050-4D4C-ADC4-788F99EFD7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8CE1A06-983B-4D1E-8028-17964E3515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392CCC0-B2EC-4B15-B9D1-3DAD86D6C5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5B80547-A1F4-443A-9B49-4FF5093455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4FBF3F2-6F9A-4F61-88AE-C35E8EE87A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44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3880" y="1200240"/>
            <a:ext cx="401544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B8D4EA5-79EF-4E3A-8051-2B7063C892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7F0FF24-802F-4DD9-A96C-01755AA30E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4BE52C0-ADCD-43DF-9B1A-731C32F3E1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2DD1767-FD1E-43F2-9E62-89D5E2D2A1B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3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440" cy="87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0920" cy="438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440" cy="35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DDBFF6-2652-494C-8FD0-59884D3B2A0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5680" cy="4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32400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685800" indent="-28800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028880" indent="-21600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4" marL="1371600" indent="-21600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5" marL="1714680" indent="-216000" defTabSz="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16000" defTabSz="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5680" cy="6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73835D-1727-4784-921A-8D367D40B7B3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1680" cy="110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58F962-40E8-49CB-AA6F-0CFFC6B43303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9AB1230-C565-4A0C-AD48-79358340A14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6680" cy="43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200" cy="43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8EE2EF-17FA-44F6-88B7-2E3A94C3B80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CD11B2-D386-4B44-A2A9-E5BCD99B349C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1680" cy="11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6E9532-9014-42AB-A55D-CF2D10D1263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2A195B-1D0A-4AC0-AA93-265444B0F4F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56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56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00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00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58C4F8-3C95-4B64-B35D-03C2F3CCA17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87D95B-873D-45F4-856E-E8A20279EDB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huggingface.co/" TargetMode="External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IA en local : Optimisation et Orchestration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Le choix du LLM 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⇒ Hugging Face : </a:t>
            </a:r>
            <a:r>
              <a:rPr b="0" lang="en-US" sz="24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https://huggingface.co/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Approche structurée :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Modèles optimisés pour le code 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Granite 3.0 3B (Instruct) et Qwen 2.5 3B (Instruct, version Q6_K).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Format 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Utilisation systématique du format GGUF pour la compatibilité native.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Le choix des outils de gestion et d’interface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620000" y="1620000"/>
            <a:ext cx="5633640" cy="257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Llama.cpp :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Serveur backend haute performance pour les modèles GGUF.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Ollama :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Gestionnaire de modèles local optimisé, intégré avec Open-WebUI.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OpenCode-GUI :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Environnement de développement complet conteneurisé.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OpenRouter-Proxy (LiteLLM) :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Hub central pour l’orchestration des modèles.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Agents :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RAG (Retrieval Augmented Generation) 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Système basé sur Marimo pour interroger dynamiquement vos connaissances locales.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Interfaces graphiques 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Open-WebUI (Port 3000) et Chatbot UI (Port 3001).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MCP (Model Context Protocol) - Partie 1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10760" y="1105920"/>
            <a:ext cx="8228880" cy="375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Définition 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Le MCP est un protocole standardisé permettant d’exposer des capacités, des outils et des données aux modèles d’IA de manière structurée et sécurisée.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Exemple de code (outil MCP - Partie 1)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7020"/>
                </a:solidFill>
                <a:latin typeface="Arial"/>
              </a:rPr>
              <a:t>def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check_disk_usage():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1" lang="en-US" sz="1200" spc="-1" strike="noStrike">
                <a:solidFill>
                  <a:srgbClr val="008000"/>
                </a:solidFill>
                <a:latin typeface="Arial"/>
              </a:rPr>
              <a:t>import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shutil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total, used, free </a:t>
            </a:r>
            <a:r>
              <a:rPr b="0" lang="en-US" sz="1200" spc="-1" strike="noStrike">
                <a:solidFill>
                  <a:srgbClr val="666666"/>
                </a:solidFill>
                <a:latin typeface="Arial"/>
              </a:rPr>
              <a:t>=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shutil.disk_usage(</a:t>
            </a:r>
            <a:r>
              <a:rPr b="0" lang="en-US" sz="1200" spc="-1" strike="noStrike">
                <a:solidFill>
                  <a:srgbClr val="4070a0"/>
                </a:solidFill>
                <a:latin typeface="Arial"/>
              </a:rPr>
              <a:t>"/"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1" lang="en-US" sz="1200" spc="-1" strike="noStrike">
                <a:solidFill>
                  <a:srgbClr val="007020"/>
                </a:solidFill>
                <a:latin typeface="Arial"/>
              </a:rPr>
              <a:t>return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{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0" lang="en-US" sz="1200" spc="-1" strike="noStrike">
                <a:solidFill>
                  <a:srgbClr val="4070a0"/>
                </a:solidFill>
                <a:latin typeface="Arial"/>
              </a:rPr>
              <a:t>"total"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: total,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0" lang="en-US" sz="1200" spc="-1" strike="noStrike">
                <a:solidFill>
                  <a:srgbClr val="4070a0"/>
                </a:solidFill>
                <a:latin typeface="Arial"/>
              </a:rPr>
              <a:t>"used"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: used,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    </a:t>
            </a:r>
            <a:r>
              <a:rPr b="0" lang="en-US" sz="1200" spc="-1" strike="noStrike">
                <a:solidFill>
                  <a:srgbClr val="4070a0"/>
                </a:solidFill>
                <a:latin typeface="Arial"/>
              </a:rPr>
              <a:t>"free"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: free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   }</a:t>
            </a:r>
            <a:br>
              <a:rPr sz="1200"/>
            </a:br>
            <a:br>
              <a:rPr sz="1200"/>
            </a:br>
            <a:r>
              <a:rPr b="1" lang="en-US" sz="1200" spc="-1" strike="noStrike">
                <a:solidFill>
                  <a:srgbClr val="008000"/>
                </a:solidFill>
                <a:latin typeface="Arial"/>
              </a:rPr>
              <a:t>from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mcp.server </a:t>
            </a:r>
            <a:r>
              <a:rPr b="1" lang="en-US" sz="1200" spc="-1" strike="noStrike">
                <a:solidFill>
                  <a:srgbClr val="008000"/>
                </a:solidFill>
                <a:latin typeface="Arial"/>
              </a:rPr>
              <a:t>import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Server</a:t>
            </a:r>
            <a:br>
              <a:rPr sz="1200"/>
            </a:br>
            <a:r>
              <a:rPr b="1" lang="en-US" sz="1200" spc="-1" strike="noStrike">
                <a:solidFill>
                  <a:srgbClr val="008000"/>
                </a:solidFill>
                <a:latin typeface="Arial"/>
              </a:rPr>
              <a:t>from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mcp.types </a:t>
            </a:r>
            <a:r>
              <a:rPr b="1" lang="en-US" sz="1200" spc="-1" strike="noStrike">
                <a:solidFill>
                  <a:srgbClr val="008000"/>
                </a:solidFill>
                <a:latin typeface="Arial"/>
              </a:rPr>
              <a:t>import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 Tool, Schema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MCP (Model Context Protocol) - Partie 2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925920"/>
            <a:ext cx="822888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Exemple de code (outil MCP - Partie 2)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server 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Server()</a:t>
            </a:r>
            <a:br>
              <a:rPr sz="1200"/>
            </a:br>
            <a:r>
              <a:rPr b="0" lang="en-US" sz="1200" spc="-1" strike="noStrike">
                <a:solidFill>
                  <a:srgbClr val="7d9029"/>
                </a:solidFill>
                <a:latin typeface="Courier New"/>
              </a:rPr>
              <a:t>@server.tool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(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Tool(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name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"check_disk"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description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"Returns disk usage stats"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input_schema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Schema(</a:t>
            </a:r>
            <a:r>
              <a:rPr b="0" lang="en-US" sz="1200" spc="-1" strike="noStrike">
                <a:solidFill>
                  <a:srgbClr val="008000"/>
                </a:solidFill>
                <a:latin typeface="Courier New"/>
              </a:rPr>
              <a:t>type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"object"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, properties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{}),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output_schema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Schema(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    </a:t>
            </a:r>
            <a:r>
              <a:rPr b="0" lang="en-US" sz="1200" spc="-1" strike="noStrike">
                <a:solidFill>
                  <a:srgbClr val="008000"/>
                </a:solidFill>
                <a:latin typeface="Courier New"/>
              </a:rPr>
              <a:t>type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"object"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    properties</a:t>
            </a:r>
            <a:r>
              <a:rPr b="0" lang="en-US" sz="1200" spc="-1" strike="noStrike">
                <a:solidFill>
                  <a:srgbClr val="666666"/>
                </a:solidFill>
                <a:latin typeface="Courier New"/>
              </a:rPr>
              <a:t>=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{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        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"total"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: {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"type"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: 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"number"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},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        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"used"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: {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"type"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: 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"number"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},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        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"free"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: {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"type"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: </a:t>
            </a:r>
            <a:r>
              <a:rPr b="0" lang="en-US" sz="1200" spc="-1" strike="noStrike">
                <a:solidFill>
                  <a:srgbClr val="4070a0"/>
                </a:solidFill>
                <a:latin typeface="Courier New"/>
              </a:rPr>
              <a:t>"number"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}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    }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    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)</a:t>
            </a:r>
            <a:br>
              <a:rPr sz="1200"/>
            </a:br>
            <a:r>
              <a:rPr b="1" lang="en-US" sz="1200" spc="-1" strike="noStrike">
                <a:solidFill>
                  <a:srgbClr val="007020"/>
                </a:solidFill>
                <a:latin typeface="Courier New"/>
              </a:rPr>
              <a:t>def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check_disk_tool(_args):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</a:t>
            </a:r>
            <a:r>
              <a:rPr b="1" lang="en-US" sz="1200" spc="-1" strike="noStrike">
                <a:solidFill>
                  <a:srgbClr val="007020"/>
                </a:solidFill>
                <a:latin typeface="Courier New"/>
              </a:rPr>
              <a:t>return</a:t>
            </a: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check_disk_usage()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server.run()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2026-04-26T22:42:17Z</dcterms:created>
  <dc:creator/>
  <dc:description/>
  <dc:language>fr-FR</dc:language>
  <cp:lastModifiedBy/>
  <dcterms:modified xsi:type="dcterms:W3CDTF">2026-04-29T22:27:23Z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